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jpg"/><Relationship Id="rId7" Type="http://schemas.openxmlformats.org/officeDocument/2006/relationships/image" Target="../media/image1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38360" y="-868680"/>
            <a:ext cx="3474720" cy="347472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5010912"/>
            <a:ext cx="2331720" cy="2331720"/>
          </a:xfrm>
          <a:prstGeom prst="ellipse">
            <a:avLst/>
          </a:prstGeom>
          <a:solidFill>
            <a:srgbClr val="D8E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548640"/>
            <a:ext cx="502920" cy="502920"/>
          </a:xfrm>
          <a:prstGeom prst="roundRect">
            <a:avLst/>
          </a:prstGeom>
          <a:solidFill>
            <a:srgbClr val="D8E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03504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 i="0">
                <a:solidFill>
                  <a:srgbClr val="102923"/>
                </a:solidFill>
                <a:latin typeface="Aptos Display"/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40080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ptos Display"/>
              </a:defRPr>
            </a:pPr>
            <a:r>
              <a:t>campus.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00200"/>
            <a:ext cx="580644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ptos Display"/>
              </a:defRPr>
            </a:pPr>
            <a:r>
              <a:t>La seconde vie</a:t>
            </a:r>
            <a:br/>
            <a:r>
              <a:t>commence sur le campus.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675887"/>
            <a:ext cx="544068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0" i="0">
                <a:solidFill>
                  <a:srgbClr val="D8E5DA"/>
                </a:solidFill>
                <a:latin typeface="Aptos"/>
              </a:defRPr>
            </a:pPr>
            <a:r>
              <a:t>La marketplace locale pour acheter, vendre et échanger entre étudiants.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892040"/>
            <a:ext cx="3246120" cy="48463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5001768"/>
            <a:ext cx="2880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PROJET DE GROUPE  •  OCTOBRE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264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0">
                <a:solidFill>
                  <a:srgbClr val="B9CBC0"/>
                </a:solidFill>
                <a:latin typeface="Aptos"/>
              </a:defRPr>
            </a:pPr>
            <a:r>
              <a:t>Conception et développement web</a:t>
            </a: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594360"/>
            <a:ext cx="4251960" cy="1874519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2697480"/>
            <a:ext cx="3611880" cy="1572768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4498848"/>
            <a:ext cx="4206240" cy="14173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10561320" y="1444752"/>
            <a:ext cx="804672" cy="512064"/>
          </a:xfrm>
          <a:prstGeom prst="roundRect">
            <a:avLst/>
          </a:prstGeom>
          <a:solidFill>
            <a:srgbClr val="D8E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43616" y="15727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102923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B9CBC0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B9CBC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01  /  LE BESOIN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La vie étudiante mérite des échanges plus simples.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Objets, livres et services circulent déjà entre étudiants — mais pas toujours au bon endroit.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03120"/>
            <a:ext cx="4754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 i="0">
                <a:solidFill>
                  <a:srgbClr val="18352F"/>
                </a:solidFill>
                <a:latin typeface="Aptos Display"/>
              </a:defRPr>
            </a:pPr>
            <a:r>
              <a:t>Un objet utile ne devrait pas</a:t>
            </a:r>
            <a:br/>
            <a:r>
              <a:t>rester au fond d’un placard.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15968"/>
            <a:ext cx="4343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 i="0">
                <a:solidFill>
                  <a:srgbClr val="63736C"/>
                </a:solidFill>
                <a:latin typeface="Aptos"/>
              </a:defRPr>
            </a:pPr>
            <a:r>
              <a:t>L’idée : rapprocher l’offre et la demande à l’échelle de la communauté étudiante.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23560" y="2084831"/>
            <a:ext cx="1847088" cy="2313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23560" y="2084831"/>
            <a:ext cx="64008" cy="231343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226771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33472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Trouver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118104"/>
            <a:ext cx="1408176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Les annonces sont dispersées entre plusieurs canaux.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3527" y="2084831"/>
            <a:ext cx="1847088" cy="2313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53527" y="2084831"/>
            <a:ext cx="64008" cy="2313432"/>
          </a:xfrm>
          <a:prstGeom prst="roundRect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26771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EEA2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7" y="2633472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Vendre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118104"/>
            <a:ext cx="1408176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Publier une offre doit rester rapide et accessible.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83496" y="2084831"/>
            <a:ext cx="1847088" cy="2313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83496" y="2084831"/>
            <a:ext cx="64008" cy="231343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12096" y="226771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12096" y="2633472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Échanger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3118104"/>
            <a:ext cx="1408176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Prendre contact et convenir d’un échange simplement.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4690872"/>
            <a:ext cx="5907024" cy="694944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4910328"/>
            <a:ext cx="54406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UNE COMMUNAUTÉ  •  DES PETITS BUDGETS  •  DES ÉCHANGES LOCAUX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02  /  LA RÉPONSE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Une plateforme unique, trois gestes.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Campus rassemble le parcours dans une interface dédiée aux petites annonces étudiantes.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94560"/>
            <a:ext cx="3246120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468880"/>
            <a:ext cx="512064" cy="512064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2783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 i="0">
                <a:solidFill>
                  <a:srgbClr val="18352F"/>
                </a:solidFill>
                <a:latin typeface="Aptos Display"/>
              </a:defRPr>
            </a:pPr>
            <a:r>
              <a:t>Publier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Décrire l’objet, fixer le prix et ajouter ses photos.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3072384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2194560"/>
            <a:ext cx="3246120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9744" y="2468880"/>
            <a:ext cx="512064" cy="512064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2596896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322783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 i="0">
                <a:solidFill>
                  <a:srgbClr val="18352F"/>
                </a:solidFill>
                <a:latin typeface="Aptos Display"/>
              </a:defRPr>
            </a:pPr>
            <a:r>
              <a:t>Découvrir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749039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Explorer, filtrer, enregistrer et parcourir les annonces.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3072384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5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7616" y="2194560"/>
            <a:ext cx="3246120" cy="2167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13648" y="2468880"/>
            <a:ext cx="512064" cy="512064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2596896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322783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 i="0">
                <a:solidFill>
                  <a:srgbClr val="18352F"/>
                </a:solidFill>
                <a:latin typeface="Aptos Display"/>
              </a:defRPr>
            </a:pPr>
            <a:r>
              <a:t>Échanger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3749039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Discuter directement et gérer les propositions.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800600"/>
            <a:ext cx="10844784" cy="713232"/>
          </a:xfrm>
          <a:prstGeom prst="roundRect">
            <a:avLst/>
          </a:prstGeom>
          <a:solidFill>
            <a:srgbClr val="10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010912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ptos"/>
              </a:defRPr>
            </a:pPr>
            <a:r>
              <a:t>OBJECTIF : SIMPLIFIER LA CIRCULATION DES OBJETS ET DES SERVICES SUR LE CAMPUS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03  /  EXPÉRIENCE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Du besoin à la conversation, sans détour.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Le parcours est conçu pour être compréhensible dès la première utilisation.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011680"/>
            <a:ext cx="6428232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212848"/>
            <a:ext cx="6062472" cy="402336"/>
          </a:xfrm>
          <a:prstGeom prst="roundRect">
            <a:avLst/>
          </a:prstGeom>
          <a:solidFill>
            <a:srgbClr val="EF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13432"/>
            <a:ext cx="347472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18352F"/>
                </a:solidFill>
                <a:latin typeface="Aptos"/>
              </a:defRPr>
            </a:pPr>
            <a:r>
              <a:t>campus.     Explorer     Catégories     Favoris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788920"/>
            <a:ext cx="50292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 i="0">
                <a:solidFill>
                  <a:srgbClr val="18352F"/>
                </a:solidFill>
                <a:latin typeface="Aptos Display"/>
              </a:defRPr>
            </a:pPr>
            <a:r>
              <a:t>À découvrir près de toi</a:t>
            </a:r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291840"/>
            <a:ext cx="1664208" cy="1389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408" y="4828032"/>
            <a:ext cx="16642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8352F"/>
                </a:solidFill>
                <a:latin typeface="Aptos"/>
              </a:defRPr>
            </a:pPr>
            <a:r>
              <a:t>Calculatrice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519379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2F7059"/>
                </a:solidFill>
                <a:latin typeface="Aptos"/>
              </a:defRPr>
            </a:pPr>
            <a:r>
              <a:t>35 €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" y="5513832"/>
            <a:ext cx="1664208" cy="301752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5586984"/>
            <a:ext cx="16642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2F7059"/>
                </a:solidFill>
                <a:latin typeface="Aptos"/>
              </a:defRPr>
            </a:pPr>
            <a:r>
              <a:t>VOIR L’ANNONCE</a:t>
            </a:r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3291840"/>
            <a:ext cx="1664208" cy="13898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898648" y="4828032"/>
            <a:ext cx="16642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8352F"/>
                </a:solidFill>
                <a:latin typeface="Aptos"/>
              </a:defRPr>
            </a:pPr>
            <a:r>
              <a:t>Livre de cours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519379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2F7059"/>
                </a:solidFill>
                <a:latin typeface="Aptos"/>
              </a:defRPr>
            </a:pPr>
            <a:r>
              <a:t>12 €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98648" y="5513832"/>
            <a:ext cx="1664208" cy="301752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5586984"/>
            <a:ext cx="16642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2F7059"/>
                </a:solidFill>
                <a:latin typeface="Aptos"/>
              </a:defRPr>
            </a:pPr>
            <a:r>
              <a:t>VOIR L’ANNONCE</a:t>
            </a:r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3291840"/>
            <a:ext cx="1664208" cy="13898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18888" y="4828032"/>
            <a:ext cx="166420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1" i="0">
                <a:solidFill>
                  <a:srgbClr val="18352F"/>
                </a:solidFill>
                <a:latin typeface="Aptos"/>
              </a:defRPr>
            </a:pPr>
            <a:r>
              <a:t>Sac étudiant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8888" y="5193792"/>
            <a:ext cx="16642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2F7059"/>
                </a:solidFill>
                <a:latin typeface="Aptos"/>
              </a:defRPr>
            </a:pPr>
            <a:r>
              <a:t>18 €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18888" y="5513832"/>
            <a:ext cx="1664208" cy="301752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18888" y="5586984"/>
            <a:ext cx="166420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50" b="1" i="0">
                <a:solidFill>
                  <a:srgbClr val="2F7059"/>
                </a:solidFill>
                <a:latin typeface="Aptos"/>
              </a:defRPr>
            </a:pPr>
            <a:r>
              <a:t>VOIR L’ANNONCE</a:t>
            </a:r>
          </a:p>
        </p:txBody>
      </p:sp>
      <p:sp>
        <p:nvSpPr>
          <p:cNvPr id="26" name="Oval 25"/>
          <p:cNvSpPr/>
          <p:nvPr/>
        </p:nvSpPr>
        <p:spPr>
          <a:xfrm>
            <a:off x="7616952" y="2377440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36408" y="2304288"/>
            <a:ext cx="36210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18352F"/>
                </a:solidFill>
                <a:latin typeface="Aptos"/>
              </a:defRPr>
            </a:pPr>
            <a:r>
              <a:t>Créer son compte et renseigner sa ville.</a:t>
            </a:r>
          </a:p>
        </p:txBody>
      </p:sp>
      <p:sp>
        <p:nvSpPr>
          <p:cNvPr id="28" name="Oval 27"/>
          <p:cNvSpPr/>
          <p:nvPr/>
        </p:nvSpPr>
        <p:spPr>
          <a:xfrm>
            <a:off x="7616952" y="3127248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36408" y="3054096"/>
            <a:ext cx="36210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18352F"/>
                </a:solidFill>
                <a:latin typeface="Aptos"/>
              </a:defRPr>
            </a:pPr>
            <a:r>
              <a:t>Publier une annonce avec photos et catégorie.</a:t>
            </a:r>
          </a:p>
        </p:txBody>
      </p:sp>
      <p:sp>
        <p:nvSpPr>
          <p:cNvPr id="30" name="Oval 29"/>
          <p:cNvSpPr/>
          <p:nvPr/>
        </p:nvSpPr>
        <p:spPr>
          <a:xfrm>
            <a:off x="7616952" y="3877056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36408" y="3803904"/>
            <a:ext cx="36210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18352F"/>
                </a:solidFill>
                <a:latin typeface="Aptos"/>
              </a:defRPr>
            </a:pPr>
            <a:r>
              <a:t>Découvrir les offres et enregistrer ses favoris.</a:t>
            </a:r>
          </a:p>
        </p:txBody>
      </p:sp>
      <p:sp>
        <p:nvSpPr>
          <p:cNvPr id="32" name="Oval 31"/>
          <p:cNvSpPr/>
          <p:nvPr/>
        </p:nvSpPr>
        <p:spPr>
          <a:xfrm>
            <a:off x="7616952" y="4626864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36408" y="4553712"/>
            <a:ext cx="362102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18352F"/>
                </a:solidFill>
                <a:latin typeface="Aptos"/>
              </a:defRPr>
            </a:pPr>
            <a:r>
              <a:t>Contacter le vendeur ou proposer une offre.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7" y="554126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 i="1">
                <a:solidFill>
                  <a:srgbClr val="63736C"/>
                </a:solidFill>
                <a:latin typeface="Aptos"/>
              </a:defRPr>
            </a:pPr>
            <a:r>
              <a:t>Maquette illustrative — visuels issus du projet.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04  /  CATALOGUE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Un catalogue qui ressemble au quotidien étudiant.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Les catégories couvrent les besoins de la vie sur le campus et au-delà.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57400"/>
            <a:ext cx="349300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185416"/>
            <a:ext cx="1234440" cy="1408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2395728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18352F"/>
                </a:solidFill>
                <a:latin typeface="Aptos Display"/>
              </a:defRPr>
            </a:pPr>
            <a:r>
              <a:t>Livres &amp; 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71216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Manuels, notes, soutien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44568" y="2057400"/>
            <a:ext cx="349300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84" y="2185416"/>
            <a:ext cx="1234440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80760" y="2395728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18352F"/>
                </a:solidFill>
                <a:latin typeface="Aptos Display"/>
              </a:defRPr>
            </a:pPr>
            <a:r>
              <a:t>Électronique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871216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Calculatrices, écrans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8" y="2057400"/>
            <a:ext cx="349300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2185416"/>
            <a:ext cx="1234440" cy="14081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0" y="2395728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18352F"/>
                </a:solidFill>
                <a:latin typeface="Aptos Display"/>
              </a:defRPr>
            </a:pPr>
            <a:r>
              <a:t>Mobilier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2871216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Bureau, chaise, déco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32504"/>
            <a:ext cx="349300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4160520"/>
            <a:ext cx="1234440" cy="140817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286000" y="437083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18352F"/>
                </a:solidFill>
                <a:latin typeface="Aptos Display"/>
              </a:defRPr>
            </a:pPr>
            <a:r>
              <a:t>Vêtements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846320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Pièces de seconde 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44568" y="4032504"/>
            <a:ext cx="349300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2584" y="4160520"/>
            <a:ext cx="1234440" cy="140817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80760" y="437083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18352F"/>
                </a:solidFill>
                <a:latin typeface="Aptos Display"/>
              </a:defRPr>
            </a:pPr>
            <a:r>
              <a:t>Mobilité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846320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Vélo et accessoires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8" y="4032504"/>
            <a:ext cx="3493008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160520"/>
            <a:ext cx="1234440" cy="140817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75520" y="437083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 i="0">
                <a:solidFill>
                  <a:srgbClr val="18352F"/>
                </a:solidFill>
                <a:latin typeface="Aptos Display"/>
              </a:defRPr>
            </a:pPr>
            <a:r>
              <a:t>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4846320"/>
            <a:ext cx="17739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Aide, cours, déménagement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6163056"/>
            <a:ext cx="106070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1">
                <a:solidFill>
                  <a:srgbClr val="63736C"/>
                </a:solidFill>
                <a:latin typeface="Aptos"/>
              </a:defRPr>
            </a:pPr>
            <a:r>
              <a:t>Le vendeur peut ajouter ses photos : elles sont prioritaires sur les images de remplacement.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05  /  DÉCOUVERTE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La proximité, sans géolocalisation intrusive.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La ville enregistrée au profil permet de remonter en priorité les offres du même secteur.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48256"/>
            <a:ext cx="4709160" cy="3602736"/>
          </a:xfrm>
          <a:prstGeom prst="roundRect">
            <a:avLst/>
          </a:prstGeom>
          <a:solidFill>
            <a:srgbClr val="10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D8EB91"/>
                </a:solidFill>
                <a:latin typeface="Aptos"/>
              </a:defRPr>
            </a:pPr>
            <a:r>
              <a:t>LIMOGES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07792"/>
            <a:ext cx="393192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 i="0">
                <a:solidFill>
                  <a:srgbClr val="FFFFFF"/>
                </a:solidFill>
                <a:latin typeface="Aptos Display"/>
              </a:defRPr>
            </a:pPr>
            <a:r>
              <a:t>D’abord les offres</a:t>
            </a:r>
            <a:br/>
            <a:r>
              <a:t>près de chez toi.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096512"/>
            <a:ext cx="385876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D8E5DA"/>
                </a:solidFill>
                <a:latin typeface="Aptos"/>
              </a:defRPr>
            </a:pPr>
            <a:r>
              <a:t>Tri prioritaire sur la ville du profil, puis ordre de publication ou de prix.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5038344"/>
            <a:ext cx="3520440" cy="356616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5129784"/>
            <a:ext cx="3337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VILLE UNIQUEMENT  •  PAS DE GPS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70448" y="2048256"/>
            <a:ext cx="2542032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70448" y="2048256"/>
            <a:ext cx="64008" cy="149047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22311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Rechercher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8" y="3081528"/>
            <a:ext cx="2103120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Dans le titre et la description.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59368" y="2048256"/>
            <a:ext cx="2542032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59368" y="2048256"/>
            <a:ext cx="64008" cy="1490472"/>
          </a:xfrm>
          <a:prstGeom prst="roundRect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87968" y="223113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EEA2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2596896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Filtrer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3081528"/>
            <a:ext cx="2103120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Catégorie, prix et état.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0448" y="3785615"/>
            <a:ext cx="2542032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70448" y="3785615"/>
            <a:ext cx="64008" cy="1490472"/>
          </a:xfrm>
          <a:prstGeom prst="roundRect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39684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EEA2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4334255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Explorer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481888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Parcours de découverte façon swipe.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59368" y="3785615"/>
            <a:ext cx="2542032" cy="1490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59368" y="3785615"/>
            <a:ext cx="64008" cy="149047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87968" y="3968496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87968" y="4334255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 i="0">
                <a:solidFill>
                  <a:srgbClr val="18352F"/>
                </a:solidFill>
                <a:latin typeface="Aptos Display"/>
              </a:defRPr>
            </a:pPr>
            <a:r>
              <a:t>Favoriser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87968" y="4818888"/>
            <a:ext cx="2103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63736C"/>
                </a:solidFill>
                <a:latin typeface="Aptos"/>
              </a:defRPr>
            </a:pPr>
            <a:r>
              <a:t>Retrouver les annonces aimées.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5596128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 i="1">
                <a:solidFill>
                  <a:srgbClr val="63736C"/>
                </a:solidFill>
                <a:latin typeface="Aptos"/>
              </a:defRPr>
            </a:pPr>
            <a:r>
              <a:t>La localisation utilise la ville, pas l’adresse complète.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06  / 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Une annonce, puis un échange entre personnes.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Campus accompagne la mise en relation sans traiter le paiement ni la livraison.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40864"/>
            <a:ext cx="248716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2587752"/>
            <a:ext cx="502920" cy="50292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2491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0098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18352F"/>
                </a:solidFill>
                <a:latin typeface="Aptos Display"/>
              </a:defRPr>
            </a:pPr>
            <a:r>
              <a:t>Intérêt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01168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63736C"/>
                </a:solidFill>
                <a:latin typeface="Aptos"/>
              </a:defRPr>
            </a:pPr>
            <a:r>
              <a:t>Favori ou prise de 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18211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4448" y="2340864"/>
            <a:ext cx="248716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13048" y="2587752"/>
            <a:ext cx="502920" cy="50292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13048" y="272491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3048" y="330098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18352F"/>
                </a:solidFill>
                <a:latin typeface="Aptos Display"/>
              </a:defRPr>
            </a:pPr>
            <a:r>
              <a:t>Discussion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794760"/>
            <a:ext cx="201168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63736C"/>
                </a:solidFill>
                <a:latin typeface="Aptos"/>
              </a:defRPr>
            </a:pPr>
            <a:r>
              <a:t>Messagerie liée à l’annonce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318211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2340864"/>
            <a:ext cx="248716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65976" y="2587752"/>
            <a:ext cx="502920" cy="50292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5976" y="272491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330098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18352F"/>
                </a:solidFill>
                <a:latin typeface="Aptos Display"/>
              </a:defRPr>
            </a:pPr>
            <a:r>
              <a:t>Proposition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6" y="3794760"/>
            <a:ext cx="201168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63736C"/>
                </a:solidFill>
                <a:latin typeface="Aptos"/>
              </a:defRPr>
            </a:pPr>
            <a:r>
              <a:t>Offre envoyée au vendeur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3182112"/>
            <a:ext cx="310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2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90304" y="2340864"/>
            <a:ext cx="2487168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18904" y="2587752"/>
            <a:ext cx="502920" cy="50292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18904" y="2724912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18904" y="3300984"/>
            <a:ext cx="2011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1" i="0">
                <a:solidFill>
                  <a:srgbClr val="18352F"/>
                </a:solidFill>
                <a:latin typeface="Aptos Display"/>
              </a:defRPr>
            </a:pPr>
            <a:r>
              <a:t>Suivi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18904" y="3794760"/>
            <a:ext cx="2011680" cy="466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63736C"/>
                </a:solidFill>
                <a:latin typeface="Aptos"/>
              </a:defRPr>
            </a:pPr>
            <a:r>
              <a:t>Statut : disponible ou vendue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5029200"/>
            <a:ext cx="10771632" cy="658368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230368"/>
            <a:ext cx="10241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 i="0">
                <a:solidFill>
                  <a:srgbClr val="2F7059"/>
                </a:solidFill>
                <a:latin typeface="Aptos"/>
              </a:defRPr>
            </a:pPr>
            <a:r>
              <a:t>OFFRES  •  NOTIFICATIONS  •  AVIS ET SIGNALEMENTS PRÉVUS DANS LE MODÈLE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07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Une architecture web simple à déployer et à expliquer.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Le projet sépare l’interface, la logique applicative et le stockage des données.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258568"/>
            <a:ext cx="2286000" cy="2002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633472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NAVIGATEUR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82112"/>
            <a:ext cx="1920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18352F"/>
                </a:solidFill>
                <a:latin typeface="Aptos Display"/>
              </a:defRPr>
            </a:pPr>
            <a:r>
              <a:t>HTML · CSS</a:t>
            </a:r>
            <a:br/>
            <a:r>
              <a:t>JavaScript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58768" y="2258568"/>
            <a:ext cx="3154680" cy="2002536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633472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3182112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18352F"/>
                </a:solidFill>
                <a:latin typeface="Aptos Display"/>
              </a:defRPr>
            </a:pPr>
            <a:r>
              <a:t>PHP 8.2 · Apache</a:t>
            </a:r>
            <a:br/>
            <a:r>
              <a:t>Sessions ·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27264" y="2258568"/>
            <a:ext cx="3319272" cy="2002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2633472"/>
            <a:ext cx="295351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3182112"/>
            <a:ext cx="295351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 i="0">
                <a:solidFill>
                  <a:srgbClr val="18352F"/>
                </a:solidFill>
                <a:latin typeface="Aptos Display"/>
              </a:defRPr>
            </a:pPr>
            <a:r>
              <a:t>PostgreSQL 16</a:t>
            </a:r>
            <a:br/>
            <a:r>
              <a:t>Relations ·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36976" y="2999232"/>
            <a:ext cx="5852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7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2999232"/>
            <a:ext cx="585216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7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65376" y="4736592"/>
            <a:ext cx="8421624" cy="649224"/>
          </a:xfrm>
          <a:prstGeom prst="roundRect">
            <a:avLst/>
          </a:prstGeom>
          <a:solidFill>
            <a:srgbClr val="10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4937760"/>
            <a:ext cx="795527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DOCKER COMPOSE  •  SERVICES WEB ET BASE DE DONNÉES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687568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Déploiement local : docker compose up --build -d  ·  http://localhost:8081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08  /  MODÈLE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Les données suivent les vrais objets métier.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Un modèle relationnel PostgreSQL relie comptes, annonces et échanges.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157984"/>
            <a:ext cx="2304288" cy="987552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40864"/>
            <a:ext cx="208483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2F7059"/>
                </a:solidFill>
                <a:latin typeface="Aptos"/>
              </a:defRPr>
            </a:pPr>
            <a:r>
              <a:t>UTILISATEURS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88336"/>
            <a:ext cx="20848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63736C"/>
                </a:solidFill>
                <a:latin typeface="Aptos"/>
              </a:defRPr>
            </a:pPr>
            <a:r>
              <a:t>profil · école · ville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157984"/>
            <a:ext cx="230428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13048" y="2340864"/>
            <a:ext cx="208483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8352F"/>
                </a:solidFill>
                <a:latin typeface="Aptos"/>
              </a:defRPr>
            </a:pPr>
            <a:r>
              <a:t>ANNONCES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688336"/>
            <a:ext cx="20848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63736C"/>
                </a:solidFill>
                <a:latin typeface="Aptos"/>
              </a:defRPr>
            </a:pPr>
            <a:r>
              <a:t>prix · état · statut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5392" y="2157984"/>
            <a:ext cx="2304288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340864"/>
            <a:ext cx="2084832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 i="0">
                <a:solidFill>
                  <a:srgbClr val="18352F"/>
                </a:solidFill>
                <a:latin typeface="Aptos"/>
              </a:defRPr>
            </a:pPr>
            <a:r>
              <a:t>PHOTOS / CATÉGORIES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688336"/>
            <a:ext cx="208483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0" i="0">
                <a:solidFill>
                  <a:srgbClr val="63736C"/>
                </a:solidFill>
                <a:latin typeface="Aptos"/>
              </a:defRPr>
            </a:pPr>
            <a:r>
              <a:t>contenu de l’offre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49631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496312"/>
            <a:ext cx="4389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 i="0">
                <a:solidFill>
                  <a:srgbClr val="2F705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38528" y="4123944"/>
            <a:ext cx="30358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9696" y="4370832"/>
            <a:ext cx="26334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18352F"/>
                </a:solidFill>
                <a:latin typeface="Aptos"/>
              </a:defRPr>
            </a:pPr>
            <a:r>
              <a:t>CONVERSATIONS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9696" y="4736592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0" i="0">
                <a:solidFill>
                  <a:srgbClr val="63736C"/>
                </a:solidFill>
                <a:latin typeface="Aptos"/>
              </a:defRPr>
            </a:pPr>
            <a:r>
              <a:t>participants · messages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28232" y="4123944"/>
            <a:ext cx="303580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370832"/>
            <a:ext cx="26334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 i="0">
                <a:solidFill>
                  <a:srgbClr val="18352F"/>
                </a:solidFill>
                <a:latin typeface="Aptos"/>
              </a:defRPr>
            </a:pPr>
            <a:r>
              <a:t>OFFRES &amp; FAVORIS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736592"/>
            <a:ext cx="26334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0" i="0">
                <a:solidFill>
                  <a:srgbClr val="63736C"/>
                </a:solidFill>
                <a:latin typeface="Aptos"/>
              </a:defRPr>
            </a:pPr>
            <a:r>
              <a:t>propositions · intérêts · avis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696712"/>
            <a:ext cx="10469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Clés étrangères et contraintes contribuent à préserver la cohérence des relations.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09  /  SÉCURITÉ &amp; CONFIANCE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Des protections concrètes — et une limite assumée.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La sécurité est traitée dans les parcours critiques, sans prétendre qu’un domaine certifie un statut étudiant.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64008" cy="107899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76856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2F705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2286000"/>
            <a:ext cx="25420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18352F"/>
                </a:solidFill>
                <a:latin typeface="Aptos Display"/>
              </a:defRPr>
            </a:pPr>
            <a:r>
              <a:t>Mots de passe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60904"/>
            <a:ext cx="2944368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63736C"/>
                </a:solidFill>
                <a:latin typeface="Aptos"/>
              </a:defRPr>
            </a:pPr>
            <a:r>
              <a:t>Hachage et vérification côté serveur.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4884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2148840"/>
            <a:ext cx="64008" cy="1078992"/>
          </a:xfrm>
          <a:prstGeom prst="roundRect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276856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EEA2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86000"/>
            <a:ext cx="25420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18352F"/>
                </a:solidFill>
                <a:latin typeface="Aptos Display"/>
              </a:defRPr>
            </a:pPr>
            <a:r>
              <a:t>Requêtes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660904"/>
            <a:ext cx="2944368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63736C"/>
                </a:solidFill>
                <a:latin typeface="Aptos"/>
              </a:defRPr>
            </a:pPr>
            <a:r>
              <a:t>Requêtes préparées pour les données utilisateur.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474720"/>
            <a:ext cx="64008" cy="107899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602736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2F705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611879"/>
            <a:ext cx="25420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18352F"/>
                </a:solidFill>
                <a:latin typeface="Aptos Display"/>
              </a:defRPr>
            </a:pPr>
            <a:r>
              <a:t>Formulaires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86783"/>
            <a:ext cx="2944368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63736C"/>
                </a:solidFill>
                <a:latin typeface="Aptos"/>
              </a:defRPr>
            </a:pPr>
            <a:r>
              <a:t>Jetons CSRF contrôlés sur les actions sensibles.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474720"/>
            <a:ext cx="340156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3474720"/>
            <a:ext cx="64008" cy="1078992"/>
          </a:xfrm>
          <a:prstGeom prst="roundRect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602736"/>
            <a:ext cx="3840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EEA2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11879"/>
            <a:ext cx="25420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 i="0">
                <a:solidFill>
                  <a:srgbClr val="18352F"/>
                </a:solidFill>
                <a:latin typeface="Aptos Display"/>
              </a:defRPr>
            </a:pPr>
            <a:r>
              <a:t>Photos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986783"/>
            <a:ext cx="2944368" cy="4846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 i="0">
                <a:solidFill>
                  <a:srgbClr val="63736C"/>
                </a:solidFill>
                <a:latin typeface="Aptos"/>
              </a:defRPr>
            </a:pPr>
            <a:r>
              <a:t>Types contrôlés et taille plafonnée à 5 Mo.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39327" y="2148840"/>
            <a:ext cx="2962656" cy="3502152"/>
          </a:xfrm>
          <a:prstGeom prst="roundRect">
            <a:avLst/>
          </a:prstGeom>
          <a:solidFill>
            <a:srgbClr val="102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68512" y="24688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D8EB91"/>
                </a:solidFill>
                <a:latin typeface="Aptos"/>
              </a:defRPr>
            </a:pPr>
            <a:r>
              <a:t>À DIRE AU JURY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68512" y="3054096"/>
            <a:ext cx="23317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Aptos Display"/>
              </a:defRPr>
            </a:pPr>
            <a:r>
              <a:t>Les écoles connues sont associées à un domaine e-mail autorisé.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4489704"/>
            <a:ext cx="233172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 i="0">
                <a:solidFill>
                  <a:srgbClr val="D8E5DA"/>
                </a:solidFill>
                <a:latin typeface="Aptos"/>
              </a:defRPr>
            </a:pPr>
            <a:r>
              <a:t>Ce contrôle ne vérifie pas l’identité auprès du portail de l’école.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5248656"/>
            <a:ext cx="7040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 i="0">
                <a:solidFill>
                  <a:srgbClr val="2F7059"/>
                </a:solidFill>
                <a:latin typeface="Aptos"/>
              </a:defRPr>
            </a:pPr>
            <a:r>
              <a:t>Campus ne demande jamais le mot de passe du compte scolaire.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10  /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Des vérifications faites sur l’application locale.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Résultats des scénarios exécutés pendant la préparation de cette présentation.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66543"/>
            <a:ext cx="10543032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" y="2221991"/>
            <a:ext cx="329184" cy="329184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1912" y="2221991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50" b="1" i="0">
                <a:solidFill>
                  <a:srgbClr val="18352F"/>
                </a:solidFill>
                <a:latin typeface="Aptos"/>
              </a:defRPr>
            </a:pPr>
            <a:r>
              <a:t>Inscription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12848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Test avec @3il.fr : compte créé et redirection au profil.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26079"/>
            <a:ext cx="10543032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24128" y="3081527"/>
            <a:ext cx="329184" cy="329184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172968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081527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50" b="1" i="0">
                <a:solidFill>
                  <a:srgbClr val="18352F"/>
                </a:solidFill>
                <a:latin typeface="Aptos"/>
              </a:defRPr>
            </a:pPr>
            <a:r>
              <a:t>Accès au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07238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Sans session, redirection vers la connexion ; pas d’avertissement d’en-tête.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785615"/>
            <a:ext cx="10543032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4128" y="3941063"/>
            <a:ext cx="329184" cy="329184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032504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1912" y="3941063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50" b="1" i="0">
                <a:solidFill>
                  <a:srgbClr val="18352F"/>
                </a:solidFill>
                <a:latin typeface="Aptos"/>
              </a:defRPr>
            </a:pPr>
            <a:r>
              <a:t>Configuration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9319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docker compose config et reconstruction du service web réussis.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45152"/>
            <a:ext cx="10543032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" y="4800600"/>
            <a:ext cx="329184" cy="329184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892040"/>
            <a:ext cx="32918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81912" y="4800600"/>
            <a:ext cx="187451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50" b="1" i="0">
                <a:solidFill>
                  <a:srgbClr val="18352F"/>
                </a:solidFill>
                <a:latin typeface="Aptos"/>
              </a:defRPr>
            </a:pPr>
            <a:r>
              <a:t>Syntaxe / diff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791456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 i="0">
                <a:solidFill>
                  <a:srgbClr val="63736C"/>
                </a:solidFill>
                <a:latin typeface="Aptos"/>
              </a:defRPr>
            </a:pPr>
            <a:r>
              <a:t>Lint PHP des pages modifiées et git diff --check réussis.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650992"/>
            <a:ext cx="10543032" cy="475488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797296"/>
            <a:ext cx="10149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À REJOUER AVANT LA SOUTENANCE : la démo avec deux comptes et ses propres annonces.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11  /  RECUL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 i="0">
                <a:solidFill>
                  <a:srgbClr val="18352F"/>
                </a:solidFill>
                <a:latin typeface="Aptos Display"/>
              </a:defRPr>
            </a:pPr>
            <a:r>
              <a:t>Un projet utile, avec des pistes d’évolution mesurables.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5389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 i="0">
                <a:solidFill>
                  <a:srgbClr val="63736C"/>
                </a:solidFill>
                <a:latin typeface="Aptos"/>
              </a:defRPr>
            </a:pPr>
            <a:r>
              <a:t>Présenter les limites montre que le périmètre et les prochaines étapes sont compris.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63736C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63736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093976"/>
            <a:ext cx="50749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EEA278"/>
                </a:solidFill>
                <a:latin typeface="Aptos"/>
              </a:defRPr>
            </a:pPr>
            <a:r>
              <a:t>AUJOURD’HUI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935224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2862072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Pas de paiement ni de livraison intégrés.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529584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3456432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Pas de preuve officielle du statut étudiant.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123944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4050791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La proximité se base sur la ville saisie au profil.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4718304"/>
            <a:ext cx="91440" cy="91440"/>
          </a:xfrm>
          <a:prstGeom prst="ellipse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4645152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La couverture de tests automatisés reste à renforcer.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093976"/>
            <a:ext cx="5074920" cy="3520440"/>
          </a:xfrm>
          <a:prstGeom prst="roundRect">
            <a:avLst/>
          </a:prstGeom>
          <a:solidFill>
            <a:srgbClr val="E4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77440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 i="0">
                <a:solidFill>
                  <a:srgbClr val="2F7059"/>
                </a:solidFill>
                <a:latin typeface="Aptos"/>
              </a:defRPr>
            </a:pPr>
            <a:r>
              <a:t>ENSUITE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935224"/>
            <a:ext cx="91440" cy="9144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1696" y="2862072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Ajouter des tests automatisés des parcours clés.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529584"/>
            <a:ext cx="91440" cy="9144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11696" y="3456432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Étudier une authentification scolaire officielle.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4123944"/>
            <a:ext cx="91440" cy="9144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11696" y="4050791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Mesurer performance et accessibilité.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4718304"/>
            <a:ext cx="91440" cy="91440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4645152"/>
            <a:ext cx="4133087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0" i="0">
                <a:solidFill>
                  <a:srgbClr val="18352F"/>
                </a:solidFill>
                <a:latin typeface="Aptos"/>
              </a:defRPr>
            </a:pPr>
            <a:r>
              <a:t>Renforcer la modération et les outils de signalement.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89788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 i="1">
                <a:solidFill>
                  <a:srgbClr val="63736C"/>
                </a:solidFill>
                <a:latin typeface="Aptos"/>
              </a:defRPr>
            </a:pPr>
            <a:r>
              <a:t>Ces évolutions sont des pistes : elles ne sont pas présentées comme déjà livrées.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-1188720"/>
            <a:ext cx="3749039" cy="3749039"/>
          </a:xfrm>
          <a:prstGeom prst="ellipse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78440" y="5084064"/>
            <a:ext cx="2377440" cy="2377440"/>
          </a:xfrm>
          <a:prstGeom prst="ellipse">
            <a:avLst/>
          </a:prstGeom>
          <a:solidFill>
            <a:srgbClr val="D8E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65836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 i="0">
                <a:solidFill>
                  <a:srgbClr val="D8EB91"/>
                </a:solidFill>
                <a:latin typeface="Aptos"/>
              </a:defRPr>
            </a:pPr>
            <a:r>
              <a:t>CAMPUS  /  EN BREF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353312"/>
            <a:ext cx="8138160" cy="1408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100" b="1" i="0">
                <a:solidFill>
                  <a:srgbClr val="FFFFFF"/>
                </a:solidFill>
                <a:latin typeface="Aptos Display"/>
              </a:defRPr>
            </a:pPr>
            <a:r>
              <a:t>Une marketplace étudiante,</a:t>
            </a:r>
            <a:br/>
            <a:r>
              <a:t>locale et pensée pour l’échange.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 i="0">
                <a:solidFill>
                  <a:srgbClr val="D8E5DA"/>
                </a:solidFill>
                <a:latin typeface="Aptos"/>
              </a:defRPr>
            </a:pPr>
            <a:r>
              <a:t>Publier. Découvrir. Se contacter.</a:t>
            </a:r>
            <a:br/>
            <a:r>
              <a:t>Un parcours simple autour des besoins du campus.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17720"/>
            <a:ext cx="1874519" cy="43891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745736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COMMUNAUTÉ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2656" y="4617720"/>
            <a:ext cx="1874519" cy="438912"/>
          </a:xfrm>
          <a:prstGeom prst="roundRect">
            <a:avLst/>
          </a:prstGeom>
          <a:solidFill>
            <a:srgbClr val="EEA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4745736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PROXIMITÉ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4617720"/>
            <a:ext cx="1874519" cy="438912"/>
          </a:xfrm>
          <a:prstGeom prst="roundRect">
            <a:avLst/>
          </a:prstGeom>
          <a:solidFill>
            <a:srgbClr val="2F70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4745736"/>
            <a:ext cx="1874519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SECONDE VIE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907792"/>
            <a:ext cx="2834640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Aptos Display"/>
              </a:defRPr>
            </a:pPr>
            <a:r>
              <a:t>Merci.</a:t>
            </a:r>
            <a:br/>
            <a:r>
              <a:t>Questions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43016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 i="0">
                <a:solidFill>
                  <a:srgbClr val="B9CBC0"/>
                </a:solidFill>
                <a:latin typeface="Aptos"/>
              </a:defRPr>
            </a:pPr>
            <a:r>
              <a:t>Photos : Unsplash, selon sa licence.  •  Projet Campus, octobre 2026.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37960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 i="0">
                <a:solidFill>
                  <a:srgbClr val="B9CBC0"/>
                </a:solidFill>
                <a:latin typeface="Aptos"/>
              </a:defRPr>
            </a:pPr>
            <a:r>
              <a:t>CAMPUS  •  SOUTENANCE DE PROJET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052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900" b="1" i="0">
                <a:solidFill>
                  <a:srgbClr val="B9CBC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 — Soutenance de projet</dc:title>
  <dc:subject>Marketplace étudiante : besoin, fonctionnalités, architecture, validation et perspectives</dc:subject>
  <dc:creator>Équipe Campus</dc:creator>
  <cp:keywords>Campus, marketplace étudiante, PHP, PostgreSQL, soutenance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